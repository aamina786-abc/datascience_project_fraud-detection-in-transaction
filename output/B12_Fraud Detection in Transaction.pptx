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66" r:id="rId4"/>
    <p:sldId id="260" r:id="rId5"/>
    <p:sldId id="257" r:id="rId6"/>
    <p:sldId id="267" r:id="rId7"/>
    <p:sldId id="268" r:id="rId8"/>
    <p:sldId id="269" r:id="rId9"/>
    <p:sldId id="270" r:id="rId10"/>
    <p:sldId id="271" r:id="rId11"/>
    <p:sldId id="272" r:id="rId12"/>
    <p:sldId id="274" r:id="rId13"/>
  </p:sldIdLst>
  <p:sldSz cx="18288000" cy="10287000"/>
  <p:notesSz cx="6858000" cy="9144000"/>
  <p:embeddedFontLst>
    <p:embeddedFont>
      <p:font typeface="Poppins" panose="00000500000000000000"/>
      <p:regular r:id="rId17"/>
    </p:embeddedFont>
    <p:embeddedFont>
      <p:font typeface="Poppins Bold" panose="00000800000000000000"/>
      <p:bold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1201400" y="1790700"/>
            <a:ext cx="7200900" cy="8229600"/>
          </a:xfrm>
          <a:custGeom>
            <a:avLst/>
            <a:gdLst/>
            <a:ahLst/>
            <a:cxnLst/>
            <a:rect l="l" t="t" r="r" b="b"/>
            <a:pathLst>
              <a:path w="7200900" h="8229600">
                <a:moveTo>
                  <a:pt x="0" y="0"/>
                </a:moveTo>
                <a:lnTo>
                  <a:pt x="7200900" y="0"/>
                </a:lnTo>
                <a:lnTo>
                  <a:pt x="72009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82445" y="1243330"/>
            <a:ext cx="10993755" cy="2588895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pPr algn="l">
              <a:lnSpc>
                <a:spcPts val="6800"/>
              </a:lnSpc>
            </a:pPr>
            <a:r>
              <a:rPr lang="en-US" altLang="en-US" sz="6800">
                <a:solidFill>
                  <a:schemeClr val="bg1"/>
                </a:solidFill>
                <a:cs typeface="+mn-lt"/>
                <a:sym typeface="+mn-ea"/>
              </a:rPr>
              <a:t>Fraud detection in Transaction clean analyze and identify suspicious transaction</a:t>
            </a:r>
            <a:endParaRPr lang="en-US" altLang="en-US" sz="6800">
              <a:solidFill>
                <a:schemeClr val="bg1"/>
              </a:solidFill>
              <a:cs typeface="+mn-lt"/>
            </a:endParaRPr>
          </a:p>
          <a:p>
            <a:pPr algn="l">
              <a:lnSpc>
                <a:spcPts val="6800"/>
              </a:lnSpc>
            </a:pPr>
            <a:endParaRPr lang="en-US" sz="6800" b="1">
              <a:solidFill>
                <a:srgbClr val="D5FF3A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82445" y="4616450"/>
            <a:ext cx="7639050" cy="46278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360"/>
              </a:lnSpc>
            </a:pPr>
            <a:r>
              <a:rPr lang="en-IN" altLang="en-US" sz="3600">
                <a:solidFill>
                  <a:srgbClr val="D5FF3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PRESENTED BY :</a:t>
            </a:r>
            <a:endParaRPr lang="en-IN" altLang="en-US" sz="3600">
              <a:solidFill>
                <a:srgbClr val="D5FF3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2975"/>
              </a:lnSpc>
            </a:pPr>
            <a:endParaRPr lang="en-IN" altLang="en-US" sz="3600">
              <a:solidFill>
                <a:srgbClr val="F3F3F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975"/>
              </a:lnSpc>
            </a:pPr>
            <a:r>
              <a:rPr lang="en-US" altLang="en-US" sz="3600">
                <a:solidFill>
                  <a:srgbClr val="F3F3F2"/>
                </a:solidFill>
                <a:ea typeface="Poppins" panose="00000500000000000000"/>
                <a:cs typeface="+mn-lt"/>
                <a:sym typeface="Poppins" panose="00000500000000000000"/>
              </a:rPr>
              <a:t>906 PALSAMKAR NIMESH </a:t>
            </a:r>
            <a:endParaRPr lang="en-US" altLang="en-US" sz="3600">
              <a:solidFill>
                <a:srgbClr val="F3F3F2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2975"/>
              </a:lnSpc>
            </a:pPr>
            <a:endParaRPr lang="en-US" altLang="en-US" sz="3600">
              <a:solidFill>
                <a:srgbClr val="F3F3F2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2975"/>
              </a:lnSpc>
            </a:pPr>
            <a:r>
              <a:rPr lang="en-US" altLang="en-US" sz="3600">
                <a:solidFill>
                  <a:srgbClr val="F3F3F2"/>
                </a:solidFill>
                <a:ea typeface="Poppins" panose="00000500000000000000"/>
                <a:cs typeface="+mn-lt"/>
                <a:sym typeface="Poppins" panose="00000500000000000000"/>
              </a:rPr>
              <a:t>907 PIYARJI AAMINA </a:t>
            </a:r>
            <a:endParaRPr lang="en-US" altLang="en-US" sz="3600">
              <a:solidFill>
                <a:srgbClr val="F3F3F2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2975"/>
              </a:lnSpc>
            </a:pPr>
            <a:endParaRPr lang="en-US" altLang="en-US" sz="3600">
              <a:solidFill>
                <a:srgbClr val="F3F3F2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2975"/>
              </a:lnSpc>
            </a:pPr>
            <a:r>
              <a:rPr lang="en-US" altLang="en-US" sz="3600">
                <a:solidFill>
                  <a:srgbClr val="F3F3F2"/>
                </a:solidFill>
                <a:ea typeface="Poppins" panose="00000500000000000000"/>
                <a:cs typeface="+mn-lt"/>
                <a:sym typeface="Poppins" panose="00000500000000000000"/>
              </a:rPr>
              <a:t>908 RAI RIYA </a:t>
            </a:r>
            <a:endParaRPr lang="en-US" altLang="en-US" sz="3600">
              <a:solidFill>
                <a:srgbClr val="F3F3F2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2975"/>
              </a:lnSpc>
            </a:pPr>
            <a:endParaRPr lang="en-US" altLang="en-US" sz="3600">
              <a:solidFill>
                <a:srgbClr val="F3F3F2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2975"/>
              </a:lnSpc>
            </a:pPr>
            <a:r>
              <a:rPr lang="en-US" altLang="en-US" sz="3600">
                <a:solidFill>
                  <a:srgbClr val="F3F3F2"/>
                </a:solidFill>
                <a:ea typeface="Poppins" panose="00000500000000000000"/>
                <a:cs typeface="+mn-lt"/>
                <a:sym typeface="Poppins" panose="00000500000000000000"/>
              </a:rPr>
              <a:t>909 RANGDAL VEDANT </a:t>
            </a:r>
            <a:endParaRPr lang="en-US" altLang="en-US" sz="3600">
              <a:solidFill>
                <a:srgbClr val="F3F3F2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2975"/>
              </a:lnSpc>
            </a:pPr>
            <a:endParaRPr lang="en-US" altLang="en-US" sz="3600">
              <a:solidFill>
                <a:srgbClr val="F3F3F2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2975"/>
              </a:lnSpc>
            </a:pPr>
            <a:r>
              <a:rPr lang="en-US" altLang="en-US" sz="3600">
                <a:solidFill>
                  <a:srgbClr val="F3F3F2"/>
                </a:solidFill>
                <a:ea typeface="Poppins" panose="00000500000000000000"/>
                <a:cs typeface="+mn-lt"/>
                <a:sym typeface="Poppins" panose="00000500000000000000"/>
              </a:rPr>
              <a:t>910 SHAIKH RAYHAN </a:t>
            </a:r>
            <a:endParaRPr lang="en-US" altLang="en-US" sz="3600">
              <a:solidFill>
                <a:srgbClr val="F3F3F2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IN" altLang="en-US" sz="3600">
              <a:solidFill>
                <a:srgbClr val="D5FF3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82445" y="1243330"/>
            <a:ext cx="14493875" cy="8928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6800"/>
              </a:lnSpc>
            </a:pPr>
            <a:r>
              <a:rPr lang="en-US" altLang="en-US" sz="6800" b="1">
                <a:solidFill>
                  <a:schemeClr val="bg1"/>
                </a:solidFill>
                <a:ea typeface="Agrandir Bold" panose="00000800000000000000"/>
                <a:cs typeface="+mn-lt"/>
                <a:sym typeface="Agrandir Bold" panose="00000800000000000000"/>
              </a:rPr>
              <a:t>BUSINESS PROBLEM</a:t>
            </a:r>
            <a:endParaRPr lang="en-US" altLang="en-US" sz="6800" b="1">
              <a:solidFill>
                <a:schemeClr val="bg1"/>
              </a:solidFill>
              <a:ea typeface="Agrandir Bold" panose="00000800000000000000"/>
              <a:cs typeface="+mn-lt"/>
              <a:sym typeface="Agrandir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82445" y="1967230"/>
            <a:ext cx="14398625" cy="69888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360"/>
              </a:lnSpc>
            </a:pPr>
            <a:r>
              <a:rPr lang="en-US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Problem Statement</a:t>
            </a:r>
            <a:r>
              <a:rPr lang="en-IN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 :</a:t>
            </a: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US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Financial institutions face huge losses due to fraudulent transactions.</a:t>
            </a: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US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Manual detection is inefficient because fraud cases are rare and hidden among millions of transactions.</a:t>
            </a: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US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Why This Matters</a:t>
            </a:r>
            <a:r>
              <a:rPr lang="en-IN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 :</a:t>
            </a: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US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Fraud causes financial loss and customer distrust</a:t>
            </a:r>
            <a:r>
              <a:rPr lang="en-IN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US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Traditional rule-based systems fail to detect new fraud patterns</a:t>
            </a:r>
            <a:r>
              <a:rPr lang="en-IN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US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US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Need for automated &amp; intelligent detection system</a:t>
            </a:r>
            <a:r>
              <a:rPr lang="en-IN" altLang="en-US" sz="40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.</a:t>
            </a:r>
            <a:endParaRPr lang="en-IN" altLang="en-US" sz="40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863965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18080" y="1261110"/>
            <a:ext cx="8313420" cy="10128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6800"/>
              </a:lnSpc>
            </a:pPr>
            <a:r>
              <a:rPr lang="en-US" altLang="en-US" sz="6600" b="1">
                <a:solidFill>
                  <a:schemeClr val="bg1"/>
                </a:solidFill>
                <a:ea typeface="Agrandir Bold" panose="00000800000000000000"/>
                <a:cs typeface="+mn-lt"/>
                <a:sym typeface="Agrandir Bold" panose="00000800000000000000"/>
              </a:rPr>
              <a:t>Data Architecture</a:t>
            </a:r>
            <a:endParaRPr lang="en-US" altLang="en-US" sz="6600" b="1">
              <a:solidFill>
                <a:schemeClr val="bg1"/>
              </a:solidFill>
              <a:ea typeface="Agrandir Bold" panose="00000800000000000000"/>
              <a:cs typeface="+mn-lt"/>
              <a:sym typeface="Agrandir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16079" y="6975466"/>
            <a:ext cx="5993988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 lang="en-US" sz="2000">
              <a:solidFill>
                <a:srgbClr val="D5FF3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625604" y="6376660"/>
            <a:ext cx="4918985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 lang="en-US" sz="2400" b="1">
              <a:solidFill>
                <a:srgbClr val="D5FF3A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38350" y="2352040"/>
            <a:ext cx="8352790" cy="73380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742950" indent="-7429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sym typeface="+mn-ea"/>
              </a:rPr>
              <a:t>Data is get from Kaggle in form of CSV.</a:t>
            </a:r>
            <a:endParaRPr lang="en-US" altLang="en-US" sz="44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marL="742950" indent="-7429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Dataset collected from transaction records</a:t>
            </a:r>
            <a:r>
              <a:rPr lang="en-IN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.</a:t>
            </a:r>
            <a:endParaRPr lang="en-US" altLang="en-US" sz="44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marL="742950" indent="-7429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Contains numeric transaction features</a:t>
            </a:r>
            <a:r>
              <a:rPr lang="en-IN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.</a:t>
            </a:r>
            <a:endParaRPr lang="en-US" altLang="en-US" sz="44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marL="742950" indent="-7429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Checked for missing values</a:t>
            </a:r>
            <a:endParaRPr lang="en-US" altLang="en-US" sz="44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marL="742950" indent="-7429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Converted required columns to numeric format</a:t>
            </a:r>
            <a:r>
              <a:rPr lang="en-IN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.</a:t>
            </a:r>
            <a:endParaRPr lang="en-US" altLang="en-US" sz="44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marL="742950" indent="-7429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Prepared data for analysis</a:t>
            </a:r>
            <a:endParaRPr lang="en-US" altLang="en-US" sz="44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marL="742950" indent="-7429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colSums(is.na(data))</a:t>
            </a:r>
            <a:r>
              <a:rPr lang="en-IN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 : This command use to </a:t>
            </a:r>
            <a:r>
              <a:rPr lang="en-US" altLang="en-US" sz="4400">
                <a:solidFill>
                  <a:schemeClr val="bg1"/>
                </a:solidFill>
                <a:ea typeface="Poppins" panose="00000500000000000000"/>
                <a:cs typeface="+mn-lt"/>
                <a:sym typeface="Poppins" panose="00000500000000000000"/>
              </a:rPr>
              <a:t>checks and counts missing (NA) values in each column of the dataset.</a:t>
            </a:r>
            <a:endParaRPr lang="en-US" altLang="en-US" sz="44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marL="742950" indent="-7429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44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  <a:p>
            <a:pPr marL="742950" indent="-742950" algn="l">
              <a:lnSpc>
                <a:spcPts val="3360"/>
              </a:lnSpc>
              <a:buFont typeface="Arial" panose="020B0604020202020204" pitchFamily="34" charset="0"/>
              <a:buChar char="•"/>
            </a:pPr>
            <a:endParaRPr lang="en-US" altLang="en-US" sz="4400">
              <a:solidFill>
                <a:schemeClr val="bg1"/>
              </a:solidFill>
              <a:ea typeface="Poppins" panose="00000500000000000000"/>
              <a:cs typeface="+mn-lt"/>
              <a:sym typeface="Poppins" panose="0000050000000000000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440" y="1564005"/>
            <a:ext cx="6387465" cy="80194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0012680" y="2073910"/>
            <a:ext cx="6993255" cy="7132320"/>
            <a:chOff x="0" y="0"/>
            <a:chExt cx="1910034" cy="15050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0034" cy="1505092"/>
            </a:xfrm>
            <a:custGeom>
              <a:avLst/>
              <a:gdLst/>
              <a:ahLst/>
              <a:cxnLst/>
              <a:rect l="l" t="t" r="r" b="b"/>
              <a:pathLst>
                <a:path w="1910034" h="1505092">
                  <a:moveTo>
                    <a:pt x="106753" y="0"/>
                  </a:moveTo>
                  <a:lnTo>
                    <a:pt x="1803281" y="0"/>
                  </a:lnTo>
                  <a:cubicBezTo>
                    <a:pt x="1831594" y="0"/>
                    <a:pt x="1858747" y="11247"/>
                    <a:pt x="1878767" y="31267"/>
                  </a:cubicBezTo>
                  <a:cubicBezTo>
                    <a:pt x="1898787" y="51287"/>
                    <a:pt x="1910034" y="78441"/>
                    <a:pt x="1910034" y="106753"/>
                  </a:cubicBezTo>
                  <a:lnTo>
                    <a:pt x="1910034" y="1398339"/>
                  </a:lnTo>
                  <a:cubicBezTo>
                    <a:pt x="1910034" y="1426651"/>
                    <a:pt x="1898787" y="1453804"/>
                    <a:pt x="1878767" y="1473825"/>
                  </a:cubicBezTo>
                  <a:cubicBezTo>
                    <a:pt x="1858747" y="1493845"/>
                    <a:pt x="1831594" y="1505092"/>
                    <a:pt x="1803281" y="1505092"/>
                  </a:cubicBezTo>
                  <a:lnTo>
                    <a:pt x="106753" y="1505092"/>
                  </a:lnTo>
                  <a:cubicBezTo>
                    <a:pt x="78441" y="1505092"/>
                    <a:pt x="51287" y="1493845"/>
                    <a:pt x="31267" y="1473825"/>
                  </a:cubicBezTo>
                  <a:cubicBezTo>
                    <a:pt x="11247" y="1453804"/>
                    <a:pt x="0" y="1426651"/>
                    <a:pt x="0" y="1398339"/>
                  </a:cubicBezTo>
                  <a:lnTo>
                    <a:pt x="0" y="106753"/>
                  </a:lnTo>
                  <a:cubicBezTo>
                    <a:pt x="0" y="78441"/>
                    <a:pt x="11247" y="51287"/>
                    <a:pt x="31267" y="31267"/>
                  </a:cubicBezTo>
                  <a:cubicBezTo>
                    <a:pt x="51287" y="11247"/>
                    <a:pt x="78441" y="0"/>
                    <a:pt x="106753" y="0"/>
                  </a:cubicBezTo>
                  <a:close/>
                </a:path>
              </a:pathLst>
            </a:custGeom>
            <a:solidFill>
              <a:srgbClr val="CA91F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910034" cy="15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8910" y="1520190"/>
            <a:ext cx="15333980" cy="10985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dirty="0">
                <a:solidFill>
                  <a:schemeClr val="bg1"/>
                </a:solidFill>
                <a:sym typeface="+mn-ea"/>
              </a:rPr>
              <a:t>Exploratory Insights :</a:t>
            </a:r>
            <a:endParaRPr lang="en-IN" sz="6800" dirty="0">
              <a:solidFill>
                <a:schemeClr val="bg1"/>
              </a:solidFill>
            </a:endParaRPr>
          </a:p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endParaRPr lang="en-IN" altLang="en-US" sz="6800" b="1" u="none" strike="noStrike" dirty="0">
              <a:solidFill>
                <a:schemeClr val="bg1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92860" y="2618740"/>
            <a:ext cx="8119110" cy="6358890"/>
          </a:xfrm>
          <a:prstGeom prst="rect">
            <a:avLst/>
          </a:prstGeom>
        </p:spPr>
        <p:txBody>
          <a:bodyPr lIns="0" tIns="0" rIns="0" bIns="0" rtlCol="0" anchor="ctr" anchorCtr="0">
            <a:noAutofit/>
          </a:bodyPr>
          <a:lstStyle/>
          <a:p>
            <a:pPr marL="457200" lvl="0" indent="-457200" algn="l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44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Graph: Fraud vs Legitimate Transactions</a:t>
            </a:r>
            <a:r>
              <a:rPr lang="en-IN" altLang="en-US" sz="44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4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endParaRPr lang="en-US" altLang="en-US" sz="44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44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Very high number of legitimate transactions</a:t>
            </a:r>
            <a:r>
              <a:rPr lang="en-IN" altLang="en-US" sz="44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4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endParaRPr lang="en-US" altLang="en-US" sz="44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44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Very few fraudulent transactions</a:t>
            </a:r>
            <a:r>
              <a:rPr lang="en-IN" altLang="en-US" sz="44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4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endParaRPr lang="en-US" altLang="en-US" sz="44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44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Strong class imbalance problem</a:t>
            </a:r>
            <a:r>
              <a:rPr lang="en-IN" altLang="en-US" sz="44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IN" altLang="en-US" sz="44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2252345"/>
            <a:ext cx="6642100" cy="6865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0012680" y="2073910"/>
            <a:ext cx="6993255" cy="7132320"/>
            <a:chOff x="0" y="0"/>
            <a:chExt cx="1910034" cy="15050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0034" cy="1505092"/>
            </a:xfrm>
            <a:custGeom>
              <a:avLst/>
              <a:gdLst/>
              <a:ahLst/>
              <a:cxnLst/>
              <a:rect l="l" t="t" r="r" b="b"/>
              <a:pathLst>
                <a:path w="1910034" h="1505092">
                  <a:moveTo>
                    <a:pt x="106753" y="0"/>
                  </a:moveTo>
                  <a:lnTo>
                    <a:pt x="1803281" y="0"/>
                  </a:lnTo>
                  <a:cubicBezTo>
                    <a:pt x="1831594" y="0"/>
                    <a:pt x="1858747" y="11247"/>
                    <a:pt x="1878767" y="31267"/>
                  </a:cubicBezTo>
                  <a:cubicBezTo>
                    <a:pt x="1898787" y="51287"/>
                    <a:pt x="1910034" y="78441"/>
                    <a:pt x="1910034" y="106753"/>
                  </a:cubicBezTo>
                  <a:lnTo>
                    <a:pt x="1910034" y="1398339"/>
                  </a:lnTo>
                  <a:cubicBezTo>
                    <a:pt x="1910034" y="1426651"/>
                    <a:pt x="1898787" y="1453804"/>
                    <a:pt x="1878767" y="1473825"/>
                  </a:cubicBezTo>
                  <a:cubicBezTo>
                    <a:pt x="1858747" y="1493845"/>
                    <a:pt x="1831594" y="1505092"/>
                    <a:pt x="1803281" y="1505092"/>
                  </a:cubicBezTo>
                  <a:lnTo>
                    <a:pt x="106753" y="1505092"/>
                  </a:lnTo>
                  <a:cubicBezTo>
                    <a:pt x="78441" y="1505092"/>
                    <a:pt x="51287" y="1493845"/>
                    <a:pt x="31267" y="1473825"/>
                  </a:cubicBezTo>
                  <a:cubicBezTo>
                    <a:pt x="11247" y="1453804"/>
                    <a:pt x="0" y="1426651"/>
                    <a:pt x="0" y="1398339"/>
                  </a:cubicBezTo>
                  <a:lnTo>
                    <a:pt x="0" y="106753"/>
                  </a:lnTo>
                  <a:cubicBezTo>
                    <a:pt x="0" y="78441"/>
                    <a:pt x="11247" y="51287"/>
                    <a:pt x="31267" y="31267"/>
                  </a:cubicBezTo>
                  <a:cubicBezTo>
                    <a:pt x="51287" y="11247"/>
                    <a:pt x="78441" y="0"/>
                    <a:pt x="106753" y="0"/>
                  </a:cubicBezTo>
                  <a:close/>
                </a:path>
              </a:pathLst>
            </a:custGeom>
            <a:solidFill>
              <a:srgbClr val="CA91F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910034" cy="15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8910" y="1251585"/>
            <a:ext cx="15333980" cy="11068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dirty="0">
                <a:solidFill>
                  <a:schemeClr val="bg1"/>
                </a:solidFill>
                <a:sym typeface="+mn-ea"/>
              </a:rPr>
              <a:t>Exploratory Insights :</a:t>
            </a:r>
            <a:endParaRPr lang="en-IN" sz="6800" dirty="0">
              <a:solidFill>
                <a:schemeClr val="bg1"/>
              </a:solidFill>
            </a:endParaRPr>
          </a:p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endParaRPr lang="en-IN" altLang="en-US" sz="6800" b="1" u="none" strike="noStrike" dirty="0">
              <a:solidFill>
                <a:schemeClr val="bg1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92860" y="2757805"/>
            <a:ext cx="8119110" cy="6219825"/>
          </a:xfrm>
          <a:prstGeom prst="rect">
            <a:avLst/>
          </a:prstGeom>
        </p:spPr>
        <p:txBody>
          <a:bodyPr lIns="0" tIns="0" rIns="0" bIns="0" rtlCol="0" anchor="ctr" anchorCtr="0">
            <a:noAutofit/>
          </a:bodyPr>
          <a:lstStyle/>
          <a:p>
            <a:pPr marL="457200" lvl="0" indent="-457200" algn="l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Graph: Boxplot of Transaction Amount by Class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Fraud transactions usually have lower transaction amounts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Legitimate transactions have a wider spread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Several outliers exist in normal transactions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IN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2070" y="2279015"/>
            <a:ext cx="6656705" cy="6810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8910" y="1520190"/>
            <a:ext cx="15333980" cy="10985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7480"/>
              </a:lnSpc>
              <a:spcBef>
                <a:spcPct val="0"/>
              </a:spcBef>
            </a:pPr>
            <a:r>
              <a:rPr lang="en-US" sz="6800" dirty="0">
                <a:solidFill>
                  <a:schemeClr val="bg1"/>
                </a:solidFill>
                <a:sym typeface="+mn-ea"/>
              </a:rPr>
              <a:t>Feature Strategy :</a:t>
            </a:r>
            <a:endParaRPr lang="en-IN" sz="6800" dirty="0">
              <a:solidFill>
                <a:schemeClr val="bg1"/>
              </a:solidFill>
            </a:endParaRPr>
          </a:p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endParaRPr lang="en-IN" altLang="en-US" sz="6800" b="1" u="none" strike="noStrike" dirty="0">
              <a:solidFill>
                <a:schemeClr val="bg1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92860" y="3114675"/>
            <a:ext cx="15159990" cy="5862955"/>
          </a:xfrm>
          <a:prstGeom prst="rect">
            <a:avLst/>
          </a:prstGeom>
        </p:spPr>
        <p:txBody>
          <a:bodyPr lIns="0" tIns="0" rIns="0" bIns="0" rtlCol="0" anchor="ctr" anchorCtr="0">
            <a:noAutofit/>
          </a:bodyPr>
          <a:lstStyle/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Standardized numerical features (Time, Amount)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Converted target variable into factor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Applied ROSE to balance minority class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Removed unnecessary or redundant attributes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train_balanced &lt;- ROSE(Class ~ ., data = train, seed = 1)$data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457200" lvl="0" indent="-457200" algn="l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8910" y="1063625"/>
            <a:ext cx="15333980" cy="1162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7480"/>
              </a:lnSpc>
              <a:spcBef>
                <a:spcPct val="0"/>
              </a:spcBef>
            </a:pPr>
            <a:r>
              <a:rPr lang="en-US" sz="6000" dirty="0">
                <a:solidFill>
                  <a:schemeClr val="bg1"/>
                </a:solidFill>
                <a:sym typeface="+mn-ea"/>
              </a:rPr>
              <a:t>Modeling Approach :</a:t>
            </a:r>
            <a:endParaRPr lang="en-IN" sz="6000" dirty="0">
              <a:solidFill>
                <a:schemeClr val="bg1"/>
              </a:solidFill>
            </a:endParaRPr>
          </a:p>
          <a:p>
            <a:pPr marL="0" lvl="0" indent="0" algn="ctr">
              <a:lnSpc>
                <a:spcPts val="7480"/>
              </a:lnSpc>
              <a:spcBef>
                <a:spcPct val="0"/>
              </a:spcBef>
            </a:pPr>
            <a:endParaRPr lang="en-IN" altLang="en-US" sz="6000" b="1" u="none" strike="noStrike" dirty="0">
              <a:solidFill>
                <a:schemeClr val="bg1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371600" y="2916555"/>
            <a:ext cx="15657195" cy="5513070"/>
          </a:xfrm>
          <a:prstGeom prst="rect">
            <a:avLst/>
          </a:prstGeom>
        </p:spPr>
        <p:txBody>
          <a:bodyPr lIns="0" tIns="0" rIns="0" bIns="0" rtlCol="0" anchor="ctr" anchorCtr="0">
            <a:noAutofit/>
          </a:bodyPr>
          <a:lstStyle/>
          <a:p>
            <a:pPr marL="571500" lvl="0" indent="-571500" algn="l">
              <a:lnSpc>
                <a:spcPts val="3360"/>
              </a:lnSpc>
              <a:spcBef>
                <a:spcPct val="0"/>
              </a:spcBef>
              <a:buFont typeface="Wingdings" panose="05000000000000000000" charset="0"/>
              <a:buChar char="q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Why Random Forest?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lvl="0" indent="0" algn="l">
              <a:lnSpc>
                <a:spcPts val="3360"/>
              </a:lnSpc>
              <a:spcBef>
                <a:spcPct val="0"/>
              </a:spcBef>
              <a:buNone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Handles Non-Linearity: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Font typeface="+mj-lt"/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Reduces Overfitting: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Font typeface="+mj-lt"/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Robust to Noisy Data: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Font typeface="+mj-lt"/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Effective on Imbalanced Data: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Font typeface="+mj-lt"/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Higher Predictive Accuracy: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lvl="0" indent="0" algn="l">
              <a:lnSpc>
                <a:spcPts val="3360"/>
              </a:lnSpc>
              <a:spcBef>
                <a:spcPct val="0"/>
              </a:spcBef>
              <a:buNone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1201481" y="5371943"/>
            <a:ext cx="5980349" cy="3778039"/>
          </a:xfrm>
          <a:custGeom>
            <a:avLst/>
            <a:gdLst/>
            <a:ahLst/>
            <a:cxnLst/>
            <a:rect l="l" t="t" r="r" b="b"/>
            <a:pathLst>
              <a:path w="5980349" h="3778039">
                <a:moveTo>
                  <a:pt x="0" y="0"/>
                </a:moveTo>
                <a:lnTo>
                  <a:pt x="5980349" y="0"/>
                </a:lnTo>
                <a:lnTo>
                  <a:pt x="5980349" y="3778039"/>
                </a:lnTo>
                <a:lnTo>
                  <a:pt x="0" y="377803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3376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548034" y="6286265"/>
            <a:ext cx="421480" cy="1679810"/>
          </a:xfrm>
          <a:custGeom>
            <a:avLst/>
            <a:gdLst/>
            <a:ahLst/>
            <a:cxnLst/>
            <a:rect l="l" t="t" r="r" b="b"/>
            <a:pathLst>
              <a:path w="421480" h="1679810">
                <a:moveTo>
                  <a:pt x="0" y="0"/>
                </a:moveTo>
                <a:lnTo>
                  <a:pt x="421480" y="0"/>
                </a:lnTo>
                <a:lnTo>
                  <a:pt x="421480" y="1679810"/>
                </a:lnTo>
                <a:lnTo>
                  <a:pt x="0" y="1679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25"/>
          <p:cNvSpPr/>
          <p:nvPr/>
        </p:nvSpPr>
        <p:spPr>
          <a:xfrm>
            <a:off x="16382934" y="6514865"/>
            <a:ext cx="421480" cy="1679810"/>
          </a:xfrm>
          <a:custGeom>
            <a:avLst/>
            <a:gdLst/>
            <a:ahLst/>
            <a:cxnLst/>
            <a:rect l="l" t="t" r="r" b="b"/>
            <a:pathLst>
              <a:path w="421480" h="1679810">
                <a:moveTo>
                  <a:pt x="0" y="0"/>
                </a:moveTo>
                <a:lnTo>
                  <a:pt x="421480" y="0"/>
                </a:lnTo>
                <a:lnTo>
                  <a:pt x="421480" y="1679810"/>
                </a:lnTo>
                <a:lnTo>
                  <a:pt x="0" y="1679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8910" y="1063625"/>
            <a:ext cx="15333980" cy="1162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7480"/>
              </a:lnSpc>
              <a:spcBef>
                <a:spcPct val="0"/>
              </a:spcBef>
            </a:pPr>
            <a:r>
              <a:rPr lang="en-US" sz="6000" dirty="0">
                <a:solidFill>
                  <a:schemeClr val="bg1"/>
                </a:solidFill>
                <a:sym typeface="+mn-ea"/>
              </a:rPr>
              <a:t>Model Evaluation :</a:t>
            </a:r>
            <a:endParaRPr lang="en-IN" sz="6000" dirty="0">
              <a:solidFill>
                <a:schemeClr val="bg1"/>
              </a:solidFill>
            </a:endParaRPr>
          </a:p>
          <a:p>
            <a:pPr marL="0" lvl="0" indent="0" algn="ctr">
              <a:lnSpc>
                <a:spcPts val="7480"/>
              </a:lnSpc>
              <a:spcBef>
                <a:spcPct val="0"/>
              </a:spcBef>
            </a:pPr>
            <a:endParaRPr lang="en-IN" altLang="en-US" sz="6000" b="1" u="none" strike="noStrike" dirty="0">
              <a:solidFill>
                <a:schemeClr val="bg1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371600" y="2916555"/>
            <a:ext cx="10905490" cy="5513070"/>
          </a:xfrm>
          <a:prstGeom prst="rect">
            <a:avLst/>
          </a:prstGeom>
        </p:spPr>
        <p:txBody>
          <a:bodyPr lIns="0" tIns="0" rIns="0" bIns="0" rtlCol="0" anchor="ctr" anchorCtr="0">
            <a:noAutofit/>
          </a:bodyPr>
          <a:lstStyle/>
          <a:p>
            <a:pPr lvl="0" indent="0" algn="l">
              <a:lnSpc>
                <a:spcPts val="3360"/>
              </a:lnSpc>
              <a:spcBef>
                <a:spcPct val="0"/>
              </a:spcBef>
              <a:buNone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The ROC curve shows the trade-off between True Positive Rate and False Positive Rate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lvl="0" indent="0" algn="l">
              <a:lnSpc>
                <a:spcPts val="3360"/>
              </a:lnSpc>
              <a:spcBef>
                <a:spcPct val="0"/>
              </a:spcBef>
              <a:buNone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lvl="0" indent="0" algn="l">
              <a:lnSpc>
                <a:spcPts val="3360"/>
              </a:lnSpc>
              <a:spcBef>
                <a:spcPct val="0"/>
              </a:spcBef>
              <a:buNone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The curve is clearly above the diagonal line, which means the model performs better than random guessing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lvl="0" indent="0" algn="l">
              <a:lnSpc>
                <a:spcPts val="3360"/>
              </a:lnSpc>
              <a:spcBef>
                <a:spcPct val="0"/>
              </a:spcBef>
              <a:buNone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lvl="0" indent="0" algn="l">
              <a:lnSpc>
                <a:spcPts val="3360"/>
              </a:lnSpc>
              <a:spcBef>
                <a:spcPct val="0"/>
              </a:spcBef>
              <a:buNone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The AUC value (~0.9) indicates strong fraud detection capability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lvl="0" indent="0" algn="l">
              <a:lnSpc>
                <a:spcPts val="3360"/>
              </a:lnSpc>
              <a:spcBef>
                <a:spcPct val="0"/>
              </a:spcBef>
              <a:buNone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lvl="0" indent="0" algn="l">
              <a:lnSpc>
                <a:spcPts val="3360"/>
              </a:lnSpc>
              <a:spcBef>
                <a:spcPct val="0"/>
              </a:spcBef>
              <a:buNone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This proves the model can effectively distinguish fraudulent vs legitimate transactions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.</a:t>
            </a:r>
            <a:endParaRPr lang="en-IN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6548034" y="6286265"/>
            <a:ext cx="421480" cy="1679810"/>
          </a:xfrm>
          <a:custGeom>
            <a:avLst/>
            <a:gdLst/>
            <a:ahLst/>
            <a:cxnLst/>
            <a:rect l="l" t="t" r="r" b="b"/>
            <a:pathLst>
              <a:path w="421480" h="1679810">
                <a:moveTo>
                  <a:pt x="0" y="0"/>
                </a:moveTo>
                <a:lnTo>
                  <a:pt x="421480" y="0"/>
                </a:lnTo>
                <a:lnTo>
                  <a:pt x="421480" y="1679810"/>
                </a:lnTo>
                <a:lnTo>
                  <a:pt x="0" y="16798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25"/>
          <p:cNvSpPr/>
          <p:nvPr/>
        </p:nvSpPr>
        <p:spPr>
          <a:xfrm>
            <a:off x="16382934" y="6514865"/>
            <a:ext cx="421480" cy="1679810"/>
          </a:xfrm>
          <a:custGeom>
            <a:avLst/>
            <a:gdLst/>
            <a:ahLst/>
            <a:cxnLst/>
            <a:rect l="l" t="t" r="r" b="b"/>
            <a:pathLst>
              <a:path w="421480" h="1679810">
                <a:moveTo>
                  <a:pt x="0" y="0"/>
                </a:moveTo>
                <a:lnTo>
                  <a:pt x="421480" y="0"/>
                </a:lnTo>
                <a:lnTo>
                  <a:pt x="421480" y="1679810"/>
                </a:lnTo>
                <a:lnTo>
                  <a:pt x="0" y="16798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2659380"/>
            <a:ext cx="4705350" cy="606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8910" y="1063625"/>
            <a:ext cx="15333980" cy="1162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/>
            <a:r>
              <a:rPr lang="en-IN" sz="6000" dirty="0">
                <a:solidFill>
                  <a:schemeClr val="bg1"/>
                </a:solidFill>
                <a:sym typeface="+mn-ea"/>
              </a:rPr>
              <a:t>Actionable Business Recommendations</a:t>
            </a:r>
            <a:r>
              <a:rPr lang="en-US" sz="6000" dirty="0">
                <a:solidFill>
                  <a:schemeClr val="bg1"/>
                </a:solidFill>
                <a:sym typeface="+mn-ea"/>
              </a:rPr>
              <a:t>:</a:t>
            </a:r>
            <a:endParaRPr lang="en-US" altLang="en-US" sz="6000" b="1" u="none" strike="noStrike" dirty="0">
              <a:solidFill>
                <a:schemeClr val="bg1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+mn-ea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371600" y="2916555"/>
            <a:ext cx="15657195" cy="5513070"/>
          </a:xfrm>
          <a:prstGeom prst="rect">
            <a:avLst/>
          </a:prstGeom>
        </p:spPr>
        <p:txBody>
          <a:bodyPr lIns="0" tIns="0" rIns="0" bIns="0" rtlCol="0" anchor="ctr" anchorCtr="0">
            <a:noAutofit/>
          </a:bodyPr>
          <a:lstStyle/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Proactively monitor high-risk transactions: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Reduce false approvals through real-time alerts: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Focus on low-amount, high-frequency transactions: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Use fraud probability for prioritization, not all transactions equally: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6548034" y="6286265"/>
            <a:ext cx="421480" cy="1679810"/>
          </a:xfrm>
          <a:custGeom>
            <a:avLst/>
            <a:gdLst/>
            <a:ahLst/>
            <a:cxnLst/>
            <a:rect l="l" t="t" r="r" b="b"/>
            <a:pathLst>
              <a:path w="421480" h="1679810">
                <a:moveTo>
                  <a:pt x="0" y="0"/>
                </a:moveTo>
                <a:lnTo>
                  <a:pt x="421480" y="0"/>
                </a:lnTo>
                <a:lnTo>
                  <a:pt x="421480" y="1679810"/>
                </a:lnTo>
                <a:lnTo>
                  <a:pt x="0" y="16798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25"/>
          <p:cNvSpPr/>
          <p:nvPr/>
        </p:nvSpPr>
        <p:spPr>
          <a:xfrm>
            <a:off x="16382934" y="6514865"/>
            <a:ext cx="421480" cy="1679810"/>
          </a:xfrm>
          <a:custGeom>
            <a:avLst/>
            <a:gdLst/>
            <a:ahLst/>
            <a:cxnLst/>
            <a:rect l="l" t="t" r="r" b="b"/>
            <a:pathLst>
              <a:path w="421480" h="1679810">
                <a:moveTo>
                  <a:pt x="0" y="0"/>
                </a:moveTo>
                <a:lnTo>
                  <a:pt x="421480" y="0"/>
                </a:lnTo>
                <a:lnTo>
                  <a:pt x="421480" y="1679810"/>
                </a:lnTo>
                <a:lnTo>
                  <a:pt x="0" y="16798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666750"/>
            <a:ext cx="16230600" cy="8463915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8910" y="625475"/>
            <a:ext cx="15333980" cy="6648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/>
            <a:r>
              <a:rPr lang="en-US" altLang="en-US" sz="5400" u="none" strike="noStrike" dirty="0">
                <a:solidFill>
                  <a:schemeClr val="bg1"/>
                </a:solidFill>
                <a:latin typeface="+mj-lt"/>
                <a:ea typeface="Agrandir Bold" panose="00000800000000000000"/>
                <a:cs typeface="+mj-lt"/>
                <a:sym typeface="+mn-ea"/>
              </a:rPr>
              <a:t>TECHNICAL REFLECTION</a:t>
            </a:r>
            <a:endParaRPr lang="en-US" altLang="en-US" sz="5400" u="none" strike="noStrike" dirty="0">
              <a:solidFill>
                <a:schemeClr val="bg1"/>
              </a:solidFill>
              <a:latin typeface="+mj-lt"/>
              <a:ea typeface="Agrandir Bold" panose="00000800000000000000"/>
              <a:cs typeface="+mj-lt"/>
              <a:sym typeface="+mn-ea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371600" y="1471930"/>
            <a:ext cx="15657195" cy="7575550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 b="1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tidyverse: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 </a:t>
            </a: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Used for data manipulation, cleaning, and handling large datasets efficiently.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 b="1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ggplot2: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 </a:t>
            </a: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Used to create high-quality visualizations for exploratory data analysis.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 b="1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caret:</a:t>
            </a:r>
            <a:r>
              <a:rPr lang="en-IN" altLang="en-US" sz="4000" b="1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 </a:t>
            </a: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Used for data splitting, model training, and performance evaluation.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 b="1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 b="1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ROSE:</a:t>
            </a:r>
            <a:r>
              <a:rPr lang="en-IN" altLang="en-US" sz="4000" b="1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 </a:t>
            </a: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Used to handle class imbalance by generating synthetic fraud samples.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 b="1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randomForest: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 </a:t>
            </a: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Used to build the fraud detection model using an ensemble of decision trees.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altLang="en-US" sz="4000" b="1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pROC:</a:t>
            </a:r>
            <a:r>
              <a:rPr lang="en-IN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 </a:t>
            </a:r>
            <a:r>
              <a:rPr lang="en-US" altLang="en-US" sz="4000">
                <a:solidFill>
                  <a:schemeClr val="bg1"/>
                </a:solidFill>
                <a:ea typeface="Poppins Bold" panose="00000800000000000000"/>
                <a:cs typeface="+mn-lt"/>
                <a:sym typeface="Poppins Bold" panose="00000800000000000000"/>
              </a:rPr>
              <a:t>Used to evaluate model performance using ROC curves and AUC scores.</a:t>
            </a: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8160" y="0"/>
                  </a:moveTo>
                  <a:lnTo>
                    <a:pt x="4236566" y="0"/>
                  </a:lnTo>
                  <a:cubicBezTo>
                    <a:pt x="4257641" y="0"/>
                    <a:pt x="4274726" y="17085"/>
                    <a:pt x="4274726" y="38160"/>
                  </a:cubicBezTo>
                  <a:lnTo>
                    <a:pt x="4274726" y="2129307"/>
                  </a:lnTo>
                  <a:cubicBezTo>
                    <a:pt x="4274726" y="2150382"/>
                    <a:pt x="4257641" y="2167467"/>
                    <a:pt x="4236566" y="2167467"/>
                  </a:cubicBezTo>
                  <a:lnTo>
                    <a:pt x="38160" y="2167467"/>
                  </a:lnTo>
                  <a:cubicBezTo>
                    <a:pt x="17085" y="2167467"/>
                    <a:pt x="0" y="2150382"/>
                    <a:pt x="0" y="212930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CA91F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8910" y="1063625"/>
            <a:ext cx="15333980" cy="7832725"/>
          </a:xfrm>
          <a:prstGeom prst="rect">
            <a:avLst/>
          </a:prstGeom>
        </p:spPr>
        <p:txBody>
          <a:bodyPr lIns="0" tIns="0" rIns="0" bIns="0" rtlCol="0" anchor="ctr" anchorCtr="0">
            <a:noAutofit/>
          </a:bodyPr>
          <a:lstStyle/>
          <a:p>
            <a:pPr lvl="0" algn="ctr"/>
            <a:r>
              <a:rPr lang="en-IN" altLang="en-US" sz="9600" u="none" strike="noStrike" dirty="0">
                <a:solidFill>
                  <a:schemeClr val="bg1"/>
                </a:solidFill>
                <a:latin typeface="+mj-lt"/>
                <a:ea typeface="Agrandir Bold" panose="00000800000000000000"/>
                <a:cs typeface="+mj-lt"/>
                <a:sym typeface="+mn-ea"/>
              </a:rPr>
              <a:t>THANK YOU</a:t>
            </a:r>
            <a:endParaRPr lang="en-IN" altLang="en-US" sz="9600" u="none" strike="noStrike" dirty="0">
              <a:solidFill>
                <a:schemeClr val="bg1"/>
              </a:solidFill>
              <a:latin typeface="+mj-lt"/>
              <a:ea typeface="Agrandir Bold" panose="00000800000000000000"/>
              <a:cs typeface="+mj-lt"/>
              <a:sym typeface="+mn-ea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371600" y="1885950"/>
            <a:ext cx="15657195" cy="7512050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pPr marL="742950" lvl="0" indent="-742950" algn="l">
              <a:lnSpc>
                <a:spcPts val="3360"/>
              </a:lnSpc>
              <a:spcBef>
                <a:spcPct val="0"/>
              </a:spcBef>
              <a:buAutoNum type="arabicPeriod"/>
            </a:pPr>
            <a:endParaRPr lang="en-US" altLang="en-US" sz="4000">
              <a:solidFill>
                <a:schemeClr val="bg1"/>
              </a:solidFill>
              <a:ea typeface="Poppins Bold" panose="00000800000000000000"/>
              <a:cs typeface="+mn-lt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2833</Words>
  <Application>WPS Presentation</Application>
  <PresentationFormat>On-screen Show (4:3)</PresentationFormat>
  <Paragraphs>134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Agrandir Bold</vt:lpstr>
      <vt:lpstr>Poppins</vt:lpstr>
      <vt:lpstr>Segoe Print</vt:lpstr>
      <vt:lpstr>Poppins Bold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 Gray and Purple Modern Pitch Deck Presentation</dc:title>
  <dc:creator/>
  <cp:lastModifiedBy>220_Aamina</cp:lastModifiedBy>
  <cp:revision>13</cp:revision>
  <dcterms:created xsi:type="dcterms:W3CDTF">2006-08-16T00:00:00Z</dcterms:created>
  <dcterms:modified xsi:type="dcterms:W3CDTF">2026-01-03T15:59:12Z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FCD0079AC5AA427D9FB5AF83C8CA2A3E_13</vt:lpwstr>
  </property>
  <property fmtid="{D5CDD505-2E9C-101B-9397-08002B2CF9AE}" pid="3" name="KSOProductBuildVer">
    <vt:lpwstr>1033-12.2.0.23196</vt:lpwstr>
  </property>
</Properties>
</file>